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practical-bold-franklin/mnt/b1n0/public/brand/b1n0-logo-fullcolo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651760" y="1371600"/>
            <a:ext cx="3840480" cy="1645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246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A1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plataforma de opinión de Centroamérica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457200" y="3611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B8F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Hacé tu llamado. Demostrá que sabés más que todos.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457200" y="443026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99A1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Tres33 SAS de CV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46863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Kim Allen Chee · Founder &amp; CEO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57200" y="457200"/>
            <a:ext cx="109728" cy="109728"/>
          </a:xfrm>
          <a:prstGeom prst="ellipse">
            <a:avLst/>
          </a:prstGeom>
          <a:solidFill>
            <a:srgbClr val="06D47F"/>
          </a:solidFill>
          <a:ln w="12700">
            <a:solidFill>
              <a:srgbClr val="06D47F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7777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10</a:t>
            </a:r>
            <a:endParaRPr lang="en-US" sz="900" dirty="0"/>
          </a:p>
        </p:txBody>
      </p:sp>
      <p:pic>
        <p:nvPicPr>
          <p:cNvPr id="3" name="Image 0" descr="/sessions/practical-bold-franklin/mnt/b1n0/public/brand/b1n0-logo-full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4759452"/>
            <a:ext cx="566928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6D4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PROBLEMA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91440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 millones de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centroamericanos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opinan en grupo.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548640" y="292608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A1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Sobre fútbol, política, economía, cultura.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9A1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cada grupo de WhatsApp, en cada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9A1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cena familiar, en cada redada de domingo.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4069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DF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Pero no hay un lugar donde demostrarlo.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303520" y="914400"/>
            <a:ext cx="3291840" cy="1554480"/>
          </a:xfrm>
          <a:prstGeom prst="rect">
            <a:avLst/>
          </a:prstGeom>
          <a:solidFill>
            <a:srgbClr val="141A1E"/>
          </a:solidFill>
          <a:ln w="12700">
            <a:solidFill>
              <a:srgbClr val="24303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40680" y="10515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06D4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50M+</a:t>
            </a:r>
            <a:endParaRPr lang="en-US" sz="5600" dirty="0"/>
          </a:p>
        </p:txBody>
      </p:sp>
      <p:sp>
        <p:nvSpPr>
          <p:cNvPr id="10" name="Text 7"/>
          <p:cNvSpPr/>
          <p:nvPr/>
        </p:nvSpPr>
        <p:spPr>
          <a:xfrm>
            <a:off x="5440680" y="1874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A1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Centroamericanos hispanoparlantes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440680" y="21488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GT · SV · HN · NI · CR · PA · BZ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303520" y="2606040"/>
            <a:ext cx="3291840" cy="1554480"/>
          </a:xfrm>
          <a:prstGeom prst="rect">
            <a:avLst/>
          </a:prstGeom>
          <a:solidFill>
            <a:srgbClr val="141A1E"/>
          </a:solidFill>
          <a:ln w="12700">
            <a:solidFill>
              <a:srgbClr val="24303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40680" y="27432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DF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</a:t>
            </a:r>
            <a:endParaRPr lang="en-US" sz="5600" dirty="0"/>
          </a:p>
        </p:txBody>
      </p:sp>
      <p:sp>
        <p:nvSpPr>
          <p:cNvPr id="14" name="Text 11"/>
          <p:cNvSpPr/>
          <p:nvPr/>
        </p:nvSpPr>
        <p:spPr>
          <a:xfrm>
            <a:off x="5440680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A1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Plataformas regionales de predicción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440680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Polymarket, Kalshi → bloquean LATAM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7777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10</a:t>
            </a:r>
            <a:endParaRPr lang="en-US" sz="900" dirty="0"/>
          </a:p>
        </p:txBody>
      </p:sp>
      <p:pic>
        <p:nvPicPr>
          <p:cNvPr id="3" name="Image 0" descr="/sessions/practical-bold-franklin/mnt/b1n0/public/brand/b1n0-logo-full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4759452"/>
            <a:ext cx="566928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6D4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SOLUCIÓN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914400"/>
            <a:ext cx="7772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b1n0 es una plataforma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opinión social.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548640" y="2514600"/>
            <a:ext cx="7955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A1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usuarios compran contratos sobre eventos reales — fútbol, política, economía, cultura — y cobran si tienen razón. No es casino, no es bolsa, no es apuesta. Es saber más que todos y poder demostrarlo.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4206240"/>
            <a:ext cx="2560320" cy="502920"/>
          </a:xfrm>
          <a:prstGeom prst="rect">
            <a:avLst/>
          </a:prstGeom>
          <a:solidFill>
            <a:srgbClr val="141A1E"/>
          </a:solidFill>
          <a:ln w="12700">
            <a:solidFill>
              <a:srgbClr val="24303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13232" y="4416552"/>
            <a:ext cx="91440" cy="91440"/>
          </a:xfrm>
          <a:prstGeom prst="ellipse">
            <a:avLst/>
          </a:prstGeom>
          <a:solidFill>
            <a:srgbClr val="06D47F"/>
          </a:solidFill>
          <a:ln w="12700">
            <a:solidFill>
              <a:srgbClr val="06D47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77824" y="42793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Spanish-first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77824" y="449884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Hablamos como vos hablás.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291840" y="4206240"/>
            <a:ext cx="2560320" cy="502920"/>
          </a:xfrm>
          <a:prstGeom prst="rect">
            <a:avLst/>
          </a:prstGeom>
          <a:solidFill>
            <a:srgbClr val="141A1E"/>
          </a:solidFill>
          <a:ln w="12700">
            <a:solidFill>
              <a:srgbClr val="24303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56432" y="4416552"/>
            <a:ext cx="91440" cy="91440"/>
          </a:xfrm>
          <a:prstGeom prst="ellipse">
            <a:avLst/>
          </a:prstGeom>
          <a:solidFill>
            <a:srgbClr val="06D47F"/>
          </a:solidFill>
          <a:ln w="12700">
            <a:solidFill>
              <a:srgbClr val="06D4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621024" y="42793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Mobile-first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21024" y="449884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Cabe en el bolsillo.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035040" y="4206240"/>
            <a:ext cx="2560320" cy="502920"/>
          </a:xfrm>
          <a:prstGeom prst="rect">
            <a:avLst/>
          </a:prstGeom>
          <a:solidFill>
            <a:srgbClr val="141A1E"/>
          </a:solidFill>
          <a:ln w="12700">
            <a:solidFill>
              <a:srgbClr val="24303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99632" y="4416552"/>
            <a:ext cx="91440" cy="91440"/>
          </a:xfrm>
          <a:prstGeom prst="ellipse">
            <a:avLst/>
          </a:prstGeom>
          <a:solidFill>
            <a:srgbClr val="06D47F"/>
          </a:solidFill>
          <a:ln w="12700">
            <a:solidFill>
              <a:srgbClr val="06D4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64224" y="42793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Centroamérica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364224" y="449884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Siete países, un solo mercado.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7777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10</a:t>
            </a:r>
            <a:endParaRPr lang="en-US" sz="900" dirty="0"/>
          </a:p>
        </p:txBody>
      </p:sp>
      <p:pic>
        <p:nvPicPr>
          <p:cNvPr id="3" name="Image 0" descr="/sessions/practical-bold-franklin/mnt/b1n0/public/brand/b1n0-logo-full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4759452"/>
            <a:ext cx="566928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6D4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CÓMO FUNCIONA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9144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Tres pasos. Cero fricción.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548640" y="17830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D4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1143000" y="17830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Ves el evento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143000" y="21488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A1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Llamados activos en tu feed. Fútbol, dólar, política — lo que vivís cada día.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48640" y="27432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D4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1143000" y="27432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Hacés tu llamado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43000" y="310896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A1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Elegís SÍ o NO, ponés tu entrada. Te decimos cuánto cobrás si tenés razón.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37033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D4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1143000" y="37033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Cobrás (o no)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143000" y="40690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A1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Cuando el evento se resuelve, el dinero entra a tu saldo. Sin esperas.</a:t>
            </a:r>
            <a:endParaRPr lang="en-US" sz="1100" dirty="0"/>
          </a:p>
        </p:txBody>
      </p:sp>
      <p:pic>
        <p:nvPicPr>
          <p:cNvPr id="15" name="Image 1" descr="/sessions/practical-bold-franklin/mnt/outputs/mockups/01_inic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777240"/>
            <a:ext cx="1828800" cy="39502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7777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10</a:t>
            </a:r>
            <a:endParaRPr lang="en-US" sz="900" dirty="0"/>
          </a:p>
        </p:txBody>
      </p:sp>
      <p:pic>
        <p:nvPicPr>
          <p:cNvPr id="3" name="Image 0" descr="/sessions/practical-bold-franklin/mnt/b1n0/public/brand/b1n0-logo-full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4759452"/>
            <a:ext cx="566928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6D4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MODELO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91440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contrato vale $1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tu lado gana.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2468880"/>
            <a:ext cx="5303520" cy="2286000"/>
          </a:xfrm>
          <a:prstGeom prst="rect">
            <a:avLst/>
          </a:prstGeom>
          <a:solidFill>
            <a:srgbClr val="141A1E"/>
          </a:solidFill>
          <a:ln w="12700">
            <a:solidFill>
              <a:srgbClr val="2430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26060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EJEMPLO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77240" y="28803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María pone $50 en NO al precio $0.38.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A1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 entrada compra 131 contratos a ~$0.38 cada uno.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77240" y="3611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8F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NO gana, cobra: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77240" y="39319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6D4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$131</a:t>
            </a:r>
            <a:endParaRPr lang="en-US" sz="4800" dirty="0"/>
          </a:p>
        </p:txBody>
      </p:sp>
      <p:sp>
        <p:nvSpPr>
          <p:cNvPr id="12" name="Text 9"/>
          <p:cNvSpPr/>
          <p:nvPr/>
        </p:nvSpPr>
        <p:spPr>
          <a:xfrm>
            <a:off x="3200400" y="4114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D4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2.6x su entrada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6D4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(+162% retorno)</a:t>
            </a:r>
            <a:endParaRPr lang="en-US" sz="1200" dirty="0"/>
          </a:p>
        </p:txBody>
      </p:sp>
      <p:pic>
        <p:nvPicPr>
          <p:cNvPr id="13" name="Image 1" descr="/sessions/practical-bold-franklin/mnt/outputs/mockups/02_bu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777240"/>
            <a:ext cx="1828800" cy="395020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7777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10</a:t>
            </a:r>
            <a:endParaRPr lang="en-US" sz="900" dirty="0"/>
          </a:p>
        </p:txBody>
      </p:sp>
      <p:pic>
        <p:nvPicPr>
          <p:cNvPr id="3" name="Image 0" descr="/sessions/practical-bold-franklin/mnt/b1n0/public/brand/b1n0-logo-full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4759452"/>
            <a:ext cx="566928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6D4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FLUJO DE CAPITAL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Cómo se mueve la plata.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1874520" cy="1463040"/>
          </a:xfrm>
          <a:prstGeom prst="rect">
            <a:avLst/>
          </a:prstGeom>
          <a:solidFill>
            <a:srgbClr val="141A1E"/>
          </a:solidFill>
          <a:ln w="25400">
            <a:solidFill>
              <a:srgbClr val="06D47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0574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D4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Liquidity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6D4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Providers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269748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A1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Aportan capital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9A1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respaldar el pool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446020" y="2331720"/>
            <a:ext cx="137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B8F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2606040" y="1920240"/>
            <a:ext cx="1874520" cy="1463040"/>
          </a:xfrm>
          <a:prstGeom prst="rect">
            <a:avLst/>
          </a:prstGeom>
          <a:solidFill>
            <a:srgbClr val="141A1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697480" y="20574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Pool del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evento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97480" y="269748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A1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Garantiza los pagos.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9A1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Dinero bloqueado.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503420" y="2331720"/>
            <a:ext cx="137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B8F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4663440" y="1920240"/>
            <a:ext cx="1874520" cy="1463040"/>
          </a:xfrm>
          <a:prstGeom prst="rect">
            <a:avLst/>
          </a:prstGeom>
          <a:solidFill>
            <a:srgbClr val="141A1E"/>
          </a:solidFill>
          <a:ln w="25400">
            <a:solidFill>
              <a:srgbClr val="FFDF5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754880" y="20574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F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Usuarios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DF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 opinan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754880" y="269748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A1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Compran contratos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9A1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SÍ o NO.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560820" y="2331720"/>
            <a:ext cx="137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B8F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6720840" y="1920240"/>
            <a:ext cx="1874520" cy="1463040"/>
          </a:xfrm>
          <a:prstGeom prst="rect">
            <a:avLst/>
          </a:prstGeom>
          <a:solidFill>
            <a:srgbClr val="141A1E"/>
          </a:solidFill>
          <a:ln w="25400">
            <a:solidFill>
              <a:srgbClr val="06D47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812280" y="20574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D4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Resolución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6D4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pagos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812280" y="269748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A1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Ganadores cobran $1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9A1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contrato. LPs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9A1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recuperan capital.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548640" y="36576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B8F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b1n0 captura un corte de cada movimiento ↓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2286000" y="4069080"/>
            <a:ext cx="4572000" cy="502920"/>
          </a:xfrm>
          <a:prstGeom prst="rect">
            <a:avLst/>
          </a:prstGeom>
          <a:solidFill>
            <a:srgbClr val="06D47F"/>
          </a:solidFill>
          <a:ln w="12700">
            <a:solidFill>
              <a:srgbClr val="06D4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286000" y="4114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~8% take rate combinado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7777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10</a:t>
            </a:r>
            <a:endParaRPr lang="en-US" sz="900" dirty="0"/>
          </a:p>
        </p:txBody>
      </p:sp>
      <p:pic>
        <p:nvPicPr>
          <p:cNvPr id="3" name="Image 0" descr="/sessions/practical-bold-franklin/mnt/b1n0/public/brand/b1n0-logo-full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4759452"/>
            <a:ext cx="566928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6D4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CÓMO GENERA INGRESOS B1N0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Cuatro cortes, un solo lifecycle.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874520"/>
            <a:ext cx="4023360" cy="1097280"/>
          </a:xfrm>
          <a:prstGeom prst="rect">
            <a:avLst/>
          </a:prstGeom>
          <a:solidFill>
            <a:srgbClr val="141A1E"/>
          </a:solidFill>
          <a:ln w="12700">
            <a:solidFill>
              <a:srgbClr val="2430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2039112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D4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1–5%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2194560" y="20756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Comisión de compra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2194560" y="24231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A1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vez que un usuario hace su llamado.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37760" y="1874520"/>
            <a:ext cx="4023360" cy="1097280"/>
          </a:xfrm>
          <a:prstGeom prst="rect">
            <a:avLst/>
          </a:prstGeom>
          <a:solidFill>
            <a:srgbClr val="141A1E"/>
          </a:solidFill>
          <a:ln w="12700">
            <a:solidFill>
              <a:srgbClr val="24303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166360" y="2039112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D4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2%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6583680" y="20756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Comisión de salida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583680" y="24231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A1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un usuario vende antes de la resolución.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3200400"/>
            <a:ext cx="4023360" cy="1097280"/>
          </a:xfrm>
          <a:prstGeom prst="rect">
            <a:avLst/>
          </a:prstGeom>
          <a:solidFill>
            <a:srgbClr val="141A1E"/>
          </a:solidFill>
          <a:ln w="12700">
            <a:solidFill>
              <a:srgbClr val="24303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7240" y="3364992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DF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1–2%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2194560" y="34015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Spread capturado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2194560" y="37490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A1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Diferencia entre precio de compra y mid.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37760" y="3200400"/>
            <a:ext cx="4023360" cy="1097280"/>
          </a:xfrm>
          <a:prstGeom prst="rect">
            <a:avLst/>
          </a:prstGeom>
          <a:solidFill>
            <a:srgbClr val="141A1E"/>
          </a:solidFill>
          <a:ln w="12700">
            <a:solidFill>
              <a:srgbClr val="24303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166360" y="3364992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DF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5%</a:t>
            </a:r>
            <a:endParaRPr lang="en-US" sz="3200" dirty="0"/>
          </a:p>
        </p:txBody>
      </p:sp>
      <p:sp>
        <p:nvSpPr>
          <p:cNvPr id="20" name="Text 17"/>
          <p:cNvSpPr/>
          <p:nvPr/>
        </p:nvSpPr>
        <p:spPr>
          <a:xfrm>
            <a:off x="6583680" y="34015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Skim de resolución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583680" y="37490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A1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Sobre cada pago a ganadores.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6D4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 take rate: ~8% por dólar que pasa por la plataforma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7777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10</a:t>
            </a:r>
            <a:endParaRPr lang="en-US" sz="900" dirty="0"/>
          </a:p>
        </p:txBody>
      </p:sp>
      <p:pic>
        <p:nvPicPr>
          <p:cNvPr id="3" name="Image 0" descr="/sessions/practical-bold-franklin/mnt/b1n0/public/brand/b1n0-logo-full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4759452"/>
            <a:ext cx="566928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6D4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TESIS REGIONAL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91440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Centroamérica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 un solo mercado.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A1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Siete países que comparten idioma, fútbol, política, dólar, redes sociales — y nadie los está atendiendo. Polymarket bloquea LATAM. Kalshi solo opera en EE.UU. Las apps de apuestas locales son anticuadas, opacas, y no entienden cómo los centroamericanos opinan.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3840480"/>
            <a:ext cx="2514600" cy="1005840"/>
          </a:xfrm>
          <a:prstGeom prst="rect">
            <a:avLst/>
          </a:prstGeom>
          <a:solidFill>
            <a:srgbClr val="141A1E"/>
          </a:solidFill>
          <a:ln w="12700">
            <a:solidFill>
              <a:srgbClr val="06D47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3931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D4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Localización real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13232" y="4206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9A1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Eventos en español guatemalteco, salvadoreño, hondureño. No traducciones — contenido nacido aquí.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46120" y="3840480"/>
            <a:ext cx="2514600" cy="1005840"/>
          </a:xfrm>
          <a:prstGeom prst="rect">
            <a:avLst/>
          </a:prstGeom>
          <a:solidFill>
            <a:srgbClr val="141A1E"/>
          </a:solidFill>
          <a:ln w="12700">
            <a:solidFill>
              <a:srgbClr val="06D47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410712" y="3931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D4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Trading transfronterizo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410712" y="4206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9A1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guatemalteco opina sobre elecciones en Costa Rica. Un salvadoreño sobre fútbol en Honduras.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943600" y="3840480"/>
            <a:ext cx="2514600" cy="1005840"/>
          </a:xfrm>
          <a:prstGeom prst="rect">
            <a:avLst/>
          </a:prstGeom>
          <a:solidFill>
            <a:srgbClr val="141A1E"/>
          </a:solidFill>
          <a:ln w="12700">
            <a:solidFill>
              <a:srgbClr val="06D4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08192" y="3931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D4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Currency en USD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108192" y="4206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9A1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sola moneda. Cero fricción cambiaria. Compatible con remesas y wallets locales.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7777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10</a:t>
            </a:r>
            <a:endParaRPr lang="en-US" sz="900" dirty="0"/>
          </a:p>
        </p:txBody>
      </p:sp>
      <p:pic>
        <p:nvPicPr>
          <p:cNvPr id="3" name="Image 0" descr="/sessions/practical-bold-franklin/mnt/b1n0/public/brand/b1n0-logo-full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4759452"/>
            <a:ext cx="566928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6D4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QUÉ AHORA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Tres fuerzas, una ventana.</a:t>
            </a:r>
            <a:endParaRPr lang="en-US" sz="3200" dirty="0"/>
          </a:p>
        </p:txBody>
      </p:sp>
      <p:pic>
        <p:nvPicPr>
          <p:cNvPr id="6" name="Image 1" descr="/sessions/practical-bold-franklin/mnt/outputs/mockups/03_portafol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28800"/>
            <a:ext cx="1691640" cy="36576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200400" y="1691640"/>
            <a:ext cx="5394960" cy="914400"/>
          </a:xfrm>
          <a:prstGeom prst="rect">
            <a:avLst/>
          </a:prstGeom>
          <a:solidFill>
            <a:srgbClr val="141A1E"/>
          </a:solidFill>
          <a:ln w="12700">
            <a:solidFill>
              <a:srgbClr val="243038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3383280" y="18288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D4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400" dirty="0"/>
          </a:p>
        </p:txBody>
      </p:sp>
      <p:sp>
        <p:nvSpPr>
          <p:cNvPr id="9" name="Text 5"/>
          <p:cNvSpPr/>
          <p:nvPr/>
        </p:nvSpPr>
        <p:spPr>
          <a:xfrm>
            <a:off x="4023360" y="182880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Smartphone penetration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4023360" y="213055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A1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+85% de adultos centroamericanos tienen smartphone. 4G ubicuo. Pago digital normalizado.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3200400" y="2743200"/>
            <a:ext cx="5394960" cy="914400"/>
          </a:xfrm>
          <a:prstGeom prst="rect">
            <a:avLst/>
          </a:prstGeom>
          <a:solidFill>
            <a:srgbClr val="141A1E"/>
          </a:solidFill>
          <a:ln w="12700">
            <a:solidFill>
              <a:srgbClr val="24303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383280" y="288036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D4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4023360" y="288036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Validación regulatoria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023360" y="318211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A1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Kalshi aprobado por la CFTC en 2024. Polymarket vale $1B+ con tráfico récord. Producto legítimo.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3200400" y="3794760"/>
            <a:ext cx="5394960" cy="914400"/>
          </a:xfrm>
          <a:prstGeom prst="rect">
            <a:avLst/>
          </a:prstGeom>
          <a:solidFill>
            <a:srgbClr val="141A1E"/>
          </a:solidFill>
          <a:ln w="12700">
            <a:solidFill>
              <a:srgbClr val="24303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383280" y="393192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D4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4023360" y="3931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Generación lista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4023360" y="423367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A1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18–35 años. Opiniones fuertes. Apetito por demostrar conocimiento. Cansados de apps para gringos.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7777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10</a:t>
            </a:r>
            <a:endParaRPr lang="en-US" sz="900" dirty="0"/>
          </a:p>
        </p:txBody>
      </p:sp>
      <p:pic>
        <p:nvPicPr>
          <p:cNvPr id="3" name="Image 0" descr="/sessions/practical-bold-franklin/mnt/b1n0/public/brand/b1n0-logo-full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0" y="640080"/>
            <a:ext cx="2194560" cy="914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691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Hacé tu llamado.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2240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i="1" dirty="0">
                <a:solidFill>
                  <a:srgbClr val="06D4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Demostrá que sabés.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2194560" y="3108960"/>
            <a:ext cx="4754880" cy="1417320"/>
          </a:xfrm>
          <a:prstGeom prst="rect">
            <a:avLst/>
          </a:prstGeom>
          <a:solidFill>
            <a:srgbClr val="141A1E"/>
          </a:solidFill>
          <a:ln w="12700">
            <a:solidFill>
              <a:srgbClr val="24303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468880" y="3383280"/>
            <a:ext cx="868680" cy="868680"/>
          </a:xfrm>
          <a:prstGeom prst="ellipse">
            <a:avLst/>
          </a:prstGeom>
          <a:solidFill>
            <a:srgbClr val="06D47F"/>
          </a:solidFill>
          <a:ln w="12700">
            <a:solidFill>
              <a:srgbClr val="06D47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468880" y="3456432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3520440" y="3383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Kim Allen Chee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3520440" y="3703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6D4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Founder &amp; CEO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520440" y="4069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A1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Tres33 SAS de CV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5034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D4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www.b1n0.com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kim@b1n0.com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Tres33 SAS de CV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b1n0 — Plataforma de opinión de Centroamérica</dc:title>
  <dc:subject>PptxGenJS Presentation</dc:subject>
  <dc:creator>Kim Allen Chee</dc:creator>
  <cp:lastModifiedBy>Kim Allen Chee</cp:lastModifiedBy>
  <cp:revision>1</cp:revision>
  <dcterms:created xsi:type="dcterms:W3CDTF">2026-05-15T22:15:50Z</dcterms:created>
  <dcterms:modified xsi:type="dcterms:W3CDTF">2026-05-15T22:15:50Z</dcterms:modified>
</cp:coreProperties>
</file>